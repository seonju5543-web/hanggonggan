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F2E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A1F2E"/>
                </a:solidFill>
                <a:latin typeface="Malgun Gothic"/>
              </a:rPr>
              <a:t>GitHub Actions 월 사용량 (분)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브라우저 수집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Malgun Gothic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수리 전</c:v>
                  </c:pt>
                  <c:pt idx="1">
                    <c:v>수리 후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790</c:v>
                </c:pt>
                <c:pt idx="1">
                  <c:v>480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그 외 로봇</c:v>
                </c:pt>
              </c:strCache>
            </c:strRef>
          </c:tx>
          <c:spPr>
            <a:solidFill>
              <a:srgbClr val="6E86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Malgun Gothic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수리 전</c:v>
                  </c:pt>
                  <c:pt idx="1">
                    <c:v>수리 후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1261</c:v>
                </c:pt>
                <c:pt idx="1">
                  <c:v>220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Malgun Gothic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F2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0"/>
          <c:min val="0"/>
        </c:scaling>
        <c:delete val="0"/>
        <c:axPos val="l"/>
        <c:majorGridlines>
          <c:spPr>
            <a:ln w="12700" cap="flat">
              <a:solidFill>
                <a:srgbClr val="E4E9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A647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결정 전 공유 문서. 실행한 것은 수집 로봇 수리 하나뿐.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34440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141B4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344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공동작업자 공유 문서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 개편안 검토 보고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비공개 전환 · Cloudflare 이전 · Oracle 자체 러너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전이므로 아직 아무것도 실행하지 않았습니다.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4348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사람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68880" y="443484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공동작업자 Josehyeon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481888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보내는 사람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68880" y="4818888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선주 세션 · claude/admin-page-elements-210xu2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520293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5202936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2026-08-03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요약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429000" cy="3310128"/>
          </a:xfrm>
          <a:prstGeom prst="roundRect">
            <a:avLst>
              <a:gd name="adj" fmla="val 1657"/>
            </a:avLst>
          </a:prstGeom>
          <a:solidFill>
            <a:srgbClr val="F4F6FB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810512"/>
            <a:ext cx="1051560" cy="310896"/>
          </a:xfrm>
          <a:prstGeom prst="roundRect">
            <a:avLst>
              <a:gd name="adj" fmla="val 47059"/>
            </a:avLst>
          </a:prstGeom>
          <a:solidFill>
            <a:srgbClr val="2C7A4B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105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2688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로봇 수리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32688" y="27432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수집이 이틀간 멈춰 있어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급히 고쳤습니다.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32688" y="3703320"/>
            <a:ext cx="2880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7A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382219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7A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40분 취소 → 7분 완료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17/17개 학교 · 신규 공고 50건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4612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CE3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325112" y="1572768"/>
            <a:ext cx="3429000" cy="3310128"/>
          </a:xfrm>
          <a:prstGeom prst="roundRect">
            <a:avLst>
              <a:gd name="adj" fmla="val 1657"/>
            </a:avLst>
          </a:prstGeom>
          <a:solidFill>
            <a:srgbClr val="F4F6FB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810512"/>
            <a:ext cx="1051560" cy="310896"/>
          </a:xfrm>
          <a:prstGeom prst="roundRect">
            <a:avLst>
              <a:gd name="adj" fmla="val 47059"/>
            </a:avLst>
          </a:prstGeom>
          <a:solidFill>
            <a:srgbClr val="C1362F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8105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개편안 순서 위험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617720" y="27432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방향은 맞지만 제안된 순서대로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하면 앱이 내려갑니다.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17720" y="3703320"/>
            <a:ext cx="2880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136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382219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3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비공개 전환 = Pages 중단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0916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플랜은 비공개 저장소를 배포하지 않음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31152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CE3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010144" y="1572768"/>
            <a:ext cx="3429000" cy="3310128"/>
          </a:xfrm>
          <a:prstGeom prst="roundRect">
            <a:avLst>
              <a:gd name="adj" fmla="val 1657"/>
            </a:avLst>
          </a:prstGeom>
          <a:solidFill>
            <a:srgbClr val="F4F6FB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302752" y="1810512"/>
            <a:ext cx="1051560" cy="310896"/>
          </a:xfrm>
          <a:prstGeom prst="roundRect">
            <a:avLst>
              <a:gd name="adj" fmla="val 47059"/>
            </a:avLst>
          </a:prstGeom>
          <a:solidFill>
            <a:srgbClr val="C67C10"/>
          </a:solidFill>
          <a:ln/>
        </p:spPr>
      </p:sp>
      <p:sp>
        <p:nvSpPr>
          <p:cNvPr id="24" name="Text 22"/>
          <p:cNvSpPr/>
          <p:nvPr/>
        </p:nvSpPr>
        <p:spPr>
          <a:xfrm>
            <a:off x="8302752" y="18105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02752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명분이 줄었다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302752" y="27432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개편의 근거였던 사용량 문제가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수리로 대부분 사라졌습니다.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302752" y="3703320"/>
            <a:ext cx="2880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67C1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94192" y="382219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7C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2,051분 → 약 700분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394192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비공개 한도(2,000분)의 35%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616184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CE3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0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오늘 급히 고친 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수집이 이틀간 멈춰 있었습니다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94360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이력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2402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8/1  06:05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26080" y="2240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7A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8.1분 성공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" y="2642616"/>
            <a:ext cx="5486400" cy="402336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26974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8/2  05:16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26080" y="26974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3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40분 취소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31546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8/2  06:08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26080" y="31546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3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48분 취소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3557016"/>
            <a:ext cx="5486400" cy="402336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6118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8/3  00:07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26080" y="36118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3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40분 취소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0690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8/3  06:31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926080" y="40690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3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40분 취소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903720" y="1572768"/>
            <a:ext cx="4617720" cy="3200400"/>
          </a:xfrm>
          <a:prstGeom prst="roundRect">
            <a:avLst>
              <a:gd name="adj" fmla="val 171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223760" y="18745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성공 수집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223760" y="22402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8/2 00:27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7223760" y="31546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학교 공고가 이틀간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갱신되지 않았습니다.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0233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EBB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— 학교를 13곳에서 크게 늘렸는데(현재 41곳)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EBB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설계는 11곳 기준(8분) 그대로였습니다.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504748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로봇은 Josehyeon님 담당 영역이지만, 공고가 이틀째 멈춰 있어 발견 즉시 조치했습니다. 사후 공유드립니다.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0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교훈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시간초과는 ‘넘어져도 저장’으로 막을 수 없습니다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8288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크래시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480560" y="1847088"/>
            <a:ext cx="1051560" cy="310896"/>
          </a:xfrm>
          <a:prstGeom prst="roundRect">
            <a:avLst>
              <a:gd name="adj" fmla="val 47059"/>
            </a:avLst>
          </a:prstGeom>
          <a:solidFill>
            <a:srgbClr val="2C7A4B"/>
          </a:solidFill>
          <a:ln/>
        </p:spPr>
      </p:sp>
      <p:sp>
        <p:nvSpPr>
          <p:cNvPr id="7" name="Text 5"/>
          <p:cNvSpPr/>
          <p:nvPr/>
        </p:nvSpPr>
        <p:spPr>
          <a:xfrm>
            <a:off x="4480560" y="18470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막을 수 있다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2359152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자바스크립트가 오류를 잡아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함수를 부를 수 있습니다.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15468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12차 세션에서 넣은 uncaughtException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장치가 바로 이것을 막습니다.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00200"/>
            <a:ext cx="525780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0" y="18288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시간초과 (취소)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0104120" y="1847088"/>
            <a:ext cx="1051560" cy="310896"/>
          </a:xfrm>
          <a:prstGeom prst="roundRect">
            <a:avLst>
              <a:gd name="adj" fmla="val 47059"/>
            </a:avLst>
          </a:prstGeom>
          <a:solidFill>
            <a:srgbClr val="C1362F"/>
          </a:solidFill>
          <a:ln/>
        </p:spPr>
      </p:sp>
      <p:sp>
        <p:nvSpPr>
          <p:cNvPr id="13" name="Text 11"/>
          <p:cNvSpPr/>
          <p:nvPr/>
        </p:nvSpPr>
        <p:spPr>
          <a:xfrm>
            <a:off x="10104120" y="18470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막을 수 없다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359152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GitHub이 프로세스를 강제 종료합니다.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손쓸 틈이 없습니다.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15468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단계까지 통째로 죽어서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그때까지 모은 공고가 전부 버려집니다.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3891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05840" y="457200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상한을 올리는 것은 해법이 아닙니다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05840" y="50109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학교가 늘면 또 걸립니다. 스크립트가 스스로 예산 안에 끝내야 합니다.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0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시간을 먹던 진짜 자리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394960" y="162763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052560" y="162763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예산이 있었나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993392"/>
            <a:ext cx="10881360" cy="18288"/>
          </a:xfrm>
          <a:prstGeom prst="rect">
            <a:avLst/>
          </a:prstGeom>
          <a:solidFill>
            <a:srgbClr val="C9D3E8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75688"/>
            <a:ext cx="10881360" cy="60350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방문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949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학교당 최대 40건 × 30초 = 최악 20분/학교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05256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3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없었음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28072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채집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94960" y="28072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180초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052560" y="28072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7A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있었음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392424"/>
            <a:ext cx="10881360" cy="60350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6557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학교 재시도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94960" y="346557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8곳 실패 시 순차로 전부 다시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52560" y="346557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3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병렬 아니었음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1239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94960" y="412394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052560" y="41239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3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전역 예산 없음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FFF4E5"/>
          </a:solidFill>
          <a:ln w="12700">
            <a:solidFill>
              <a:srgbClr val="F0D2A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519379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4E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방문에만 예산이 없어서, 학교 한 곳이 20분을 먹을 수 있었습니다 — 이것이 40분 상한을 넘긴 주범입니다.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0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 결과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것과 실제 실행 결과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6126480" cy="3794760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32688" y="2276856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1243584" y="221284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harvest-budget.mjs 신설 — 예산·순서 회전을 순수 함수로 분리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32688" y="2779776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1243584" y="271576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예산 22분 — 모자라면 건너뛰고 정상 저장 경로로 마무리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32688" y="3282696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1243584" y="321868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방문 학교당 4분 — 잘려도 공고는 저장, 마감만 다음 실행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32688" y="3785616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1243584" y="372160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학교 재시도를 순차 → 병렬 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32688" y="4288536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1243584" y="422452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 순서 회전 — 잘리는 학교가 고정되지 않게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2688" y="4791456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1243584" y="472744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검사 16항목 — 되돌리면 실제로 실패하는 것까지 확인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086600" y="1572768"/>
            <a:ext cx="44348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60920" y="17007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시간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60920" y="20482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8E9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40분+ 취소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0" y="204825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555480" y="20299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7분 완료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7086600" y="2871216"/>
            <a:ext cx="44348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60920" y="2999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처리한 학교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60920" y="33467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8E9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0곳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0" y="334670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555480" y="332841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/ 17곳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7086600" y="4169664"/>
            <a:ext cx="44348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60920" y="4297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공고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60920" y="4645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8E9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44000" y="46451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555480" y="46268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50건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0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확인 부탁드립니다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예산이 서로를 모릅니다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Josehyeon님이 오늘 23:05에 추가한 deepfetch --fill 단계와 제 수리(13:21)가 서로 모르는 채 합쳐졌습니다.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385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35040" y="19385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778240" y="19385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최악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스크립트 (제 예산)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35040" y="22860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778240" y="22860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deepfetch --fill (그쪽)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35040" y="2798064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2~3분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78240" y="2798064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16분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3310128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· 감사 · 저장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331012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778240" y="331012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3822192"/>
            <a:ext cx="10607040" cy="18288"/>
          </a:xfrm>
          <a:prstGeom prst="rect">
            <a:avLst/>
          </a:prstGeom>
          <a:solidFill>
            <a:srgbClr val="C9D3E8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9136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035040" y="3913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15분   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778240" y="3913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13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43분   ✕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0080" y="457200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FDECEA"/>
          </a:solidFill>
          <a:ln w="12700">
            <a:solidFill>
              <a:srgbClr val="F0BDB6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60120" y="47091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21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상한은 30분입니다 — 학교가 여러 곳 안 열리는 날 다시 취소될 수 있습니다.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60120" y="5102352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21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① 작업 전체 마감 시각을 공유 (권장)    ② 수집 예산 22 → 15분    ③ 상한 40분으로 상향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21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영역이라 임의로 고치지 않았습니다. 어떻게 할지 알려 주세요.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0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선주님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 개편안 — 역할 분리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901952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1901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54480" y="21945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Private Repository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저장소 (git)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09981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팀 협업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350215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로봇 리포트 (Issues)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25112" y="164592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901952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0F6B8C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239512" y="1901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Cloudflare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5239512" y="21945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Pages / Workers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45152" y="26974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웹 · 앱 배포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309981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API 서버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45152" y="350215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관리자 로그인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10144" y="164592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02752" y="1901952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7A3E9D"/>
          </a:solidFill>
          <a:ln/>
        </p:spPr>
      </p:sp>
      <p:sp>
        <p:nvSpPr>
          <p:cNvPr id="22" name="Text 20"/>
          <p:cNvSpPr/>
          <p:nvPr/>
        </p:nvSpPr>
        <p:spPr>
          <a:xfrm>
            <a:off x="8302752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924544" y="1901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Cloud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924544" y="21945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Self-hosted Runner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30184" y="26974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봇 · 크롤링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330184" y="309981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무거운 스케줄링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30184" y="350215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시간 제한 없음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475488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F4F6FB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0120" y="495604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공동 관리 — 오라클 계정을 공유하지 않고, 리눅스 서버의 ~/.ssh/authorized_keys에 공동개발자 공개키를 등록해 SSH 접속 권한만 나눕니다.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0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결과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제안에서 정확한 것 — 제가 못 짚은 좋은 통찰입니다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2A3670"/>
          </a:solidFill>
          <a:ln w="12700">
            <a:solidFill>
              <a:srgbClr val="3D4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659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920240" y="1947672"/>
            <a:ext cx="923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러너는 GitHub 분(minutes)을 쓰지 않는다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920240" y="2404872"/>
            <a:ext cx="9235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5CF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비공개 전환의 걸림돌이던 월 2,000분 제한이 실제로 무의미해집니다.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5CF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앞선 분석의 빈틈을 정확히 메우는 해법입니다.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2A3670"/>
          </a:solidFill>
          <a:ln w="12700">
            <a:solidFill>
              <a:srgbClr val="3D4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931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920240" y="3913632"/>
            <a:ext cx="923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비공개 전환이 오히려 자체 러너를 안전하게 만든다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920240" y="4370832"/>
            <a:ext cx="9235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5CF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저장소에서 자체 러너는 심각한 위험입니다 — 외부인이 서버에서 코드를 실행할 수 있습니다.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5CF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비공개면 그 위험이 사라집니다. 두 변경이 서로를 돕습니다.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 자체도 교과서적으로 맞고, _admin/ 이 이미 그 구조입니다.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0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결과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실행하면 문제가 되는 것 4가지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52578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865376"/>
            <a:ext cx="1051560" cy="310896"/>
          </a:xfrm>
          <a:prstGeom prst="roundRect">
            <a:avLst>
              <a:gd name="adj" fmla="val 47059"/>
            </a:avLst>
          </a:prstGeom>
          <a:solidFill>
            <a:srgbClr val="C1362F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6537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치명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03120" y="18288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비공개로 바꾸는 순간 앱이 내려갑니다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32688" y="2496312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Pages는 무료 플랜에서 비공개 저장소를 배포하지 않습니다(Pro 이상 필요).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순서는 ①비공개 → ②Cloudflare 연동인데, 그 사이 앱이 404가 됩니다.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27632"/>
            <a:ext cx="52578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1865376"/>
            <a:ext cx="1051560" cy="310896"/>
          </a:xfrm>
          <a:prstGeom prst="roundRect">
            <a:avLst>
              <a:gd name="adj" fmla="val 47059"/>
            </a:avLst>
          </a:prstGeom>
          <a:solidFill>
            <a:srgbClr val="C1362F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48" y="186537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26680" y="18288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ARM에서 브라우저 로봇이 안 돕니다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56248" y="2496312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Playwright는 Linux ARM64용 Chromium을 제공하지 않습니다.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옮기려는 작업의 89%가 브라우저 수집인데, 무료 AMD는 1GB 램이라 더 불가합니다.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30752"/>
            <a:ext cx="52578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3968496"/>
            <a:ext cx="1051560" cy="310896"/>
          </a:xfrm>
          <a:prstGeom prst="roundRect">
            <a:avLst>
              <a:gd name="adj" fmla="val 47059"/>
            </a:avLst>
          </a:prstGeom>
          <a:solidFill>
            <a:srgbClr val="C67C10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968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03120" y="39319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Oracle이 놀고 있는 서버를 회수합니다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2688" y="4599432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7일간 CPU·네트워크·메모리가 전부 10% 미만이면 회수합니다.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로봇은 하루 2회 몇 분만 도니 정확히 회수 대상입니다.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730752"/>
            <a:ext cx="52578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68496"/>
            <a:ext cx="1051560" cy="310896"/>
          </a:xfrm>
          <a:prstGeom prst="roundRect">
            <a:avLst>
              <a:gd name="adj" fmla="val 47059"/>
            </a:avLst>
          </a:prstGeom>
          <a:solidFill>
            <a:srgbClr val="C67C10"/>
          </a:solidFill>
          <a:ln/>
        </p:spPr>
      </p:sp>
      <p:sp>
        <p:nvSpPr>
          <p:cNvPr id="21" name="Text 19"/>
          <p:cNvSpPr/>
          <p:nvPr/>
        </p:nvSpPr>
        <p:spPr>
          <a:xfrm>
            <a:off x="6556248" y="3968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26680" y="39319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ARM이 2026년 6월부터 반토막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56248" y="4599432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OCPU/24GB → 2 OCPU/12GB로 축소됐습니다.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지역에 따라 “용량 없음”으로 몇 주씩 생성이 안 되기도 합니다.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0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중요한 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개편의 명분이 줄었습니다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개편의 근거는 “월 2,000분 제한 때문에 봇이 못 돈다”였습니다. 그런데 790분이었던 이유는 로봇이 40~360분씩 매달려 있었기 때문이지 일이 많아서가 아니었습니다.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103120"/>
          <a:ext cx="64922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52360" y="2103120"/>
            <a:ext cx="4069080" cy="1508760"/>
          </a:xfrm>
          <a:prstGeom prst="roundRect">
            <a:avLst>
              <a:gd name="adj" fmla="val 3636"/>
            </a:avLst>
          </a:prstGeom>
          <a:solidFill>
            <a:srgbClr val="FDECEA"/>
          </a:solidFill>
          <a:ln w="12700">
            <a:solidFill>
              <a:srgbClr val="F0BDB6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26680" y="2267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21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수리 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726680" y="25420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13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2,051분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726680" y="31272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21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비공개 한도(2,000분) 초과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069080" cy="1508760"/>
          </a:xfrm>
          <a:prstGeom prst="roundRect">
            <a:avLst>
              <a:gd name="adj" fmla="val 3636"/>
            </a:avLst>
          </a:prstGeom>
          <a:solidFill>
            <a:srgbClr val="E8F5EE"/>
          </a:solidFill>
          <a:ln w="12700">
            <a:solidFill>
              <a:srgbClr val="A8D5BC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726680" y="40050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51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수리 후 (실측 기반)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726680" y="427939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7A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700분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26680" y="486460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51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한도의 35% — Oracle 없이도 가능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Oracle은 여전히 가치가 있습니다(학교를 50~100곳으로 늘릴 때). 다만 지금 당장 필요하지는 않고, 관리 부담이 계속 생깁니다.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0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권하는 순서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636776"/>
            <a:ext cx="457200" cy="457200"/>
          </a:xfrm>
          <a:prstGeom prst="ellipse">
            <a:avLst/>
          </a:prstGeom>
          <a:solidFill>
            <a:srgbClr val="2C7A4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36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61848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화면 → Cloudflare + Access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911096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0 · 준비 끝남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331720"/>
            <a:ext cx="457200" cy="457200"/>
          </a:xfrm>
          <a:prstGeom prst="ellipse">
            <a:avLst/>
          </a:prstGeom>
          <a:solidFill>
            <a:srgbClr val="2C7A4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31343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푸시 · 메일 서버 → Workers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60604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주소와 무관 · 준비 끝남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026664"/>
            <a:ext cx="457200" cy="457200"/>
          </a:xfrm>
          <a:prstGeom prst="ellipse">
            <a:avLst/>
          </a:prstGeom>
          <a:solidFill>
            <a:srgbClr val="C67C1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026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00837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앱1 → Cloudflare Pages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3300984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구입 후 · 비공개 전환 전에 반드시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3721608"/>
            <a:ext cx="457200" cy="457200"/>
          </a:xfrm>
          <a:prstGeom prst="ellipse">
            <a:avLst/>
          </a:prstGeom>
          <a:solidFill>
            <a:srgbClr val="C67C10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721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370332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앱1 정상 작동 확인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39959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있는 마지막 지점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41655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439826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비공개 전환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71600" y="469087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안전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" y="5111496"/>
            <a:ext cx="457200" cy="457200"/>
          </a:xfrm>
          <a:prstGeom prst="ellipse">
            <a:avLst/>
          </a:prstGeom>
          <a:solidFill>
            <a:srgbClr val="5A6478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5111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371600" y="509320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자체 러너 — 보류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5385816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쓰지 않기로 결정 (8/3)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635240" y="1600200"/>
            <a:ext cx="3886200" cy="2788920"/>
          </a:xfrm>
          <a:prstGeom prst="roundRect">
            <a:avLst>
              <a:gd name="adj" fmla="val 19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955280" y="18288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사항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955280" y="23317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Oracle 자체 러너 — 쓰지 않기로 확정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55280" y="27889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서버·관리자 화면 — Cloudflare로 확정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32461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남은 결정: 두 예산 충돌 처리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955280" y="3703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앱1 이전·비공개 전환은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 때문에 아직 미착수.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35240" y="4572000"/>
            <a:ext cx="3886200" cy="1280160"/>
          </a:xfrm>
          <a:prstGeom prst="roundRect">
            <a:avLst>
              <a:gd name="adj" fmla="val 4286"/>
            </a:avLst>
          </a:prstGeom>
          <a:solidFill>
            <a:srgbClr val="F4F6FB"/>
          </a:solidFill>
          <a:ln w="12700">
            <a:solidFill>
              <a:srgbClr val="DDE4F0"/>
            </a:solidFill>
            <a:prstDash val="solid"/>
          </a:ln>
          <a:effectLst>
            <a:outerShdw sx="100000" sy="100000" kx="0" ky="0" algn="bl" rotWithShape="0" blurRad="76200" dist="19050" dir="5400000">
              <a:srgbClr val="9AA6BF">
                <a:alpha val="1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955280" y="4892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내용은 저장소의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INFRA-REVIEW-2026-08-03.md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0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인프라 개편안 검토 보고</dc:title>
  <dc:subject>PptxGenJS Presentation</dc:subject>
  <dc:creator>한대장 선주 세션</dc:creator>
  <cp:lastModifiedBy>한대장 선주 세션</cp:lastModifiedBy>
  <cp:revision>1</cp:revision>
  <dcterms:created xsi:type="dcterms:W3CDTF">2026-08-03T15:30:19Z</dcterms:created>
  <dcterms:modified xsi:type="dcterms:W3CDTF">2026-08-03T15:30:19Z</dcterms:modified>
</cp:coreProperties>
</file>